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Lato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7F3F89-7342-4A41-8745-3BBE394E6A4E}">
  <a:tblStyle styleId="{3B7F3F89-7342-4A41-8745-3BBE394E6A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7.png"/><Relationship Id="rId8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83160" y="1727001"/>
            <a:ext cx="54255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КУРС ГРАФИЧЕСКОГО ДИЗАЙНА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47522" y="2174676"/>
            <a:ext cx="569680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КИНОПОСТЕР В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AFFINITY V2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83160" y="4064198"/>
            <a:ext cx="542552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От концепции до печати: мастер-класс по созданию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комедийного и хоррор-постеров за 90 минут.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2162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62162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Affinity V2 — это больше не набор отдельных приложений. Это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единое рабочее пространство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где инструменты векторной графики, ретуши и верстки живут вместе.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71687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6750" y="30241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3024187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Layout (Publisher):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Основа макета, сетка и типографика.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6750" y="3424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424237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Pixel (Photo):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Сложная ретушь, маски и спецэффекты.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" y="38242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3824287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Vector (Designer):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Логотипы, иконки и четкая геометрия.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Философия StudioLink: 3-в-1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6050"/>
            <a:ext cx="34924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86050"/>
            <a:ext cx="3492549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686050"/>
            <a:ext cx="34924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66775" y="3629025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Подготовка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848100"/>
            <a:ext cx="2901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Анализ жанра, выбор цветовой палитры и подбор референсов в Layout Persona.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4925" y="3629025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Обработка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44925" y="3848100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Ретушь персонажей, работа с масками и светом в Pixel Persona.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225" y="3629025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Сборка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3225" y="3848100"/>
            <a:ext cx="2901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Добавление типографики, эффектов и финальный экспорт в PDF/X.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019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30194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30194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Алгоритм создания проекта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3763267" y="2366962"/>
            <a:ext cx="466546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ЧАСТЬ ПЕРВАЯ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646631" y="2767012"/>
            <a:ext cx="489873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84CC16"/>
                </a:solidFill>
                <a:latin typeface="Urbanist"/>
                <a:ea typeface="Urbanist"/>
                <a:cs typeface="Urbanist"/>
                <a:sym typeface="Urbanist"/>
              </a:rPr>
              <a:t>КОМЕДИЯ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763267" y="4005262"/>
            <a:ext cx="46654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Свет, энергия и оптимизм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09625" y="571500"/>
            <a:ext cx="495061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Комедия: Работа с лицом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57150" cy="10096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282892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 комедии зритель идет на персонажа. Эмоция должна быть "чистой" и яркой.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6750" y="36385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3638550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High Key: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Минимум глубоких теней, равномерный свет.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" y="4010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401002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Selection Brush: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Быстрое выделение героя и Refine для волос.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6750" y="4638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463867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Vibrance: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Усиление насыщенности без потери естественного тона кожи.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2162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86087"/>
            <a:ext cx="52387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6381750" y="206216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Психология "счастья"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381750" y="228123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Для комедии используем яркие градиенты. Оранжевый, желтый и бирюзовый создают ощущение легкости.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71687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572250" y="3176587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Инструменты Designer Persona: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572250" y="3529012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Gradient Tool: Мягкие переходы от теплого к холодному.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Blend Modes: Наложение Screen для свечения.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Комедия: Теория цвета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3205162"/>
            <a:ext cx="42672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POP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219700" y="3100387"/>
            <a:ext cx="67208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Живые шрифты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219700" y="3319462"/>
            <a:ext cx="6400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Используем округлые, массивные начертания (напр. Cooper Black или Panton).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314950" y="37195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410200" y="3719512"/>
            <a:ext cx="621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Layer FX: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Мягкая внешняя тень (Outer Shadow).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314950" y="39766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410200" y="3976687"/>
            <a:ext cx="621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Mesh Warp: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Слегка "раздуваем" буквы для динамики.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314950" y="42338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410200" y="4233862"/>
            <a:ext cx="621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Цвет: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Белый или яркий комплементарный фон.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Комедия: Типографика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2162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2062162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Объединяем все слои в Layout Persona. Добавляем векторные элементы: "солнечные" лучи или яркие плашки за текстом.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71938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Результат: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Постер, который "продает" хорошее настроение еще до прочтения названия.</a:t>
            </a:r>
            <a:endParaRPr/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71687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Комедия: Финальная сборка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4160192" y="2366962"/>
            <a:ext cx="387161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ЧАСТЬ ВТОРАЯ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4063402" y="2767012"/>
            <a:ext cx="406519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DC2626"/>
                </a:solidFill>
                <a:latin typeface="Urbanist"/>
                <a:ea typeface="Urbanist"/>
                <a:cs typeface="Urbanist"/>
                <a:sym typeface="Urbanist"/>
              </a:rPr>
              <a:t>ХОРРОР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160192" y="4005262"/>
            <a:ext cx="3871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Тень, шум и саспенс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809625" y="571500"/>
            <a:ext cx="49506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Хоррор: Власть теней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571500" y="270510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Мы пугаем тем, чего не видно. В Pixel Persona мы работаем с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Low Key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освещением.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66750" y="3514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62000" y="351472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Curves: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Уводим черную точку в абсолютный мрак.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66750" y="38862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62000" y="3886200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Vignette: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Направляем взгляд в центр композиции.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66750" y="42576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762000" y="425767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Dodge &amp; Burn: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Подчеркиваем кости и морщины для агрессии.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2162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86087"/>
            <a:ext cx="52387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6381750" y="206216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Тактильный страх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6381750" y="228123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Хоррор должен ощущаться физически дискомфортным. Добавляем текстуры пыли и царапин.</a:t>
            </a:r>
            <a:endParaRPr/>
          </a:p>
        </p:txBody>
      </p:sp>
      <p:pic>
        <p:nvPicPr>
          <p:cNvPr descr="image.png" id="219" name="Google Shape;2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71687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6572250" y="3176587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Эффекты наложения: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572250" y="3529012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Blending Mode: Overlay или Linear Burn.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Filter: Add Noise для "зернистости" старой пленки.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Хоррор: Гранж и шум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571500" y="3205162"/>
            <a:ext cx="42672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FEAR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219700" y="2971800"/>
            <a:ext cx="67208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Шрифты-лезвия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219700" y="3190875"/>
            <a:ext cx="6400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Используем тонкие, острые шрифты с длинными засечками (напр. Playfair Display в искажении).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314950" y="38481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410200" y="3848100"/>
            <a:ext cx="621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Кернинг: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Большие расстояния между буквами (эффект пустоты).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5314950" y="4105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410200" y="4105275"/>
            <a:ext cx="621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Liquify: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Слегка искажаем форму букв, будто они "плавают".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5314950" y="43624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410200" y="4362450"/>
            <a:ext cx="621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Цвет: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Кроваво-красный или грязно-белый на черном.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Хоррор: Агрессивный текст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6905625" y="571500"/>
            <a:ext cx="49506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Хоррор: Окружение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6667500" y="571500"/>
            <a:ext cx="57150" cy="5048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6667500" y="3214687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Вписываем героя в фон. Используем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Mask Layers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чтобы "растворить" края персонажа в тумане.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6667500" y="387191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Важно: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Фон в хорроре — это отдельный персонаж, создающий атмосферу безысходности.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" name="Google Shape;255;p26"/>
          <p:cNvGraphicFramePr/>
          <p:nvPr/>
        </p:nvGraphicFramePr>
        <p:xfrm>
          <a:off x="571500" y="2505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{3B7F3F89-7342-4A41-8745-3BBE394E6A4E}</a:tableStyleId>
              </a:tblPr>
              <a:tblGrid>
                <a:gridCol w="2216350"/>
                <a:gridCol w="3654325"/>
                <a:gridCol w="5178325"/>
              </a:tblGrid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84CC1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Элемент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84CC1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Комедия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84CC1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Хоррор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Освещение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Key (светло, мягко)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Key (темно, жестко)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Цвета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Теплые, насыщенные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Холодные, приглушенные, красный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Текстура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Чистая, глянцевая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Шероховатая, грязная, шумная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Шрифт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Округлый, жирный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Острый, тонкий, искаженный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26"/>
          <p:cNvSpPr/>
          <p:nvPr/>
        </p:nvSpPr>
        <p:spPr>
          <a:xfrm>
            <a:off x="571500" y="3014662"/>
            <a:ext cx="2216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2787848" y="3014662"/>
            <a:ext cx="3654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6442174" y="3014662"/>
            <a:ext cx="5178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571500" y="3567112"/>
            <a:ext cx="2216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2787848" y="3567112"/>
            <a:ext cx="3654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6442174" y="3567112"/>
            <a:ext cx="5178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571500" y="4119562"/>
            <a:ext cx="2216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2787848" y="4119562"/>
            <a:ext cx="3654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6442174" y="4119562"/>
            <a:ext cx="5178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71500" y="4672012"/>
            <a:ext cx="2216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2787848" y="4672012"/>
            <a:ext cx="3654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6442174" y="4672012"/>
            <a:ext cx="5178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571500" y="5224462"/>
            <a:ext cx="22163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2787848" y="5224462"/>
            <a:ext cx="3654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6442174" y="5224462"/>
            <a:ext cx="51783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Сравнение: Комедия vs Хоррор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2162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19387"/>
            <a:ext cx="52387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571500" y="2062162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Постер должен выглядеть идеально не только на экране, но и на бумаге.</a:t>
            </a:r>
            <a:endParaRPr/>
          </a:p>
        </p:txBody>
      </p:sp>
      <p:pic>
        <p:nvPicPr>
          <p:cNvPr descr="image.png" id="281" name="Google Shape;28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71687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809625" y="2957512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Чек-лист Preflight: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904875" y="33575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1000125" y="3357562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Разрешение всех растров — 300 DPI.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904875" y="36147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1000125" y="3614737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Цветовой профиль — CMYK (напр. Coated FOGRA39).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904875" y="38719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1000125" y="3871912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Вылеты под обрез (Bleeds) — 3-5 мм.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Подготовка к жизни (Экспорт)</a:t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8"/>
          <p:cNvSpPr txBox="1"/>
          <p:nvPr/>
        </p:nvSpPr>
        <p:spPr>
          <a:xfrm>
            <a:off x="809625" y="571500"/>
            <a:ext cx="49506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Credit Block (Титры)</a:t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571500" y="288607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Нижняя часть постера (Billing Block). Это технический блок, который должен быть читаемым, но не отвлекать.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571500" y="354330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Шрифт: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Используйте специальные узкие шрифты (напр. Steel Tongs).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571500" y="420052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Layout: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Группировка имен по важности и использование глифов для разделителей.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6050"/>
            <a:ext cx="34924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86050"/>
            <a:ext cx="3492549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686050"/>
            <a:ext cx="34924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 txBox="1"/>
          <p:nvPr/>
        </p:nvSpPr>
        <p:spPr>
          <a:xfrm>
            <a:off x="866775" y="3629025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Слои и Маски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866775" y="3848100"/>
            <a:ext cx="2901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Основа любого сложного коллажа — недеструктивное редактирование.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4644925" y="3629025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StudioLink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4644925" y="3848100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Скорость работы в Affinity V2 в 2 раза выше за счет отсутствия переключений.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8423225" y="3629025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Жанровость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8423225" y="3848100"/>
            <a:ext cx="2901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Постер — это не просто картинка, это обещание зрителю определенной эмоции.</a:t>
            </a:r>
            <a:endParaRPr/>
          </a:p>
        </p:txBody>
      </p:sp>
      <p:pic>
        <p:nvPicPr>
          <p:cNvPr descr="image.png" id="316" name="Google Shape;31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0194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30194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30194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Итоги курса</a:t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 txBox="1"/>
          <p:nvPr/>
        </p:nvSpPr>
        <p:spPr>
          <a:xfrm>
            <a:off x="3808374" y="2113657"/>
            <a:ext cx="4575103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ВОПРОСЫ?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3917305" y="3058417"/>
            <a:ext cx="43572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Ваш путь в кинодизайн начинается здесь.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3917305" y="3972817"/>
            <a:ext cx="43572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Практика: Создайте свой постер сегодня.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3917305" y="4372867"/>
            <a:ext cx="43572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www.affinity-masterclass.com | @design_affinity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1"/>
          <p:cNvSpPr/>
          <p:nvPr/>
        </p:nvSpPr>
        <p:spPr>
          <a:xfrm>
            <a:off x="571500" y="13049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571500" y="207645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571500" y="30194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571500" y="39624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571500" y="47339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71500" y="2066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571500" y="2066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571500" y="3009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571500" y="3009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571500" y="3952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571500" y="3952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571500" y="549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571500" y="549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0" name="Google Shape;35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1"/>
          <p:cNvSpPr txBox="1"/>
          <p:nvPr/>
        </p:nvSpPr>
        <p:spPr>
          <a:xfrm>
            <a:off x="1666875" y="14549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https://picassomultimedia.com/wp-content/uploads/2025/11/B1_Affinity_PTK_Non-Destructive_Editing-1024x686.webp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1666875" y="16883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picassomultimedia.com</a:t>
            </a:r>
            <a:endParaRPr/>
          </a:p>
        </p:txBody>
      </p:sp>
      <p:pic>
        <p:nvPicPr>
          <p:cNvPr descr="image.png" id="353" name="Google Shape;35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05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1666875" y="22193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https://media.istockphoto.com/id/2219537101/photo/portrait-of-a-young-man-in-a-studio-looking-at-the-camera-smiling.jpg?s=612x612&amp;w=0&amp;k=20&amp;c=c47KSuqw0os7gNJDGKeRFlehWm8njWMVugNb0TxKlnk=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1666875" y="26384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356" name="Google Shape;35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48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1"/>
          <p:cNvSpPr txBox="1"/>
          <p:nvPr/>
        </p:nvSpPr>
        <p:spPr>
          <a:xfrm>
            <a:off x="1666875" y="31623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https://static.vecteezy.com/system/resources/previews/048/675/066/non_2x/bright-orange-yellow-gradient-abstract-background-orange-comic-sunburst-effect-background-with-halftone-suitable-for-templates-sales-banners-events-ads-web-and-pages-vector.jpg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1666875" y="35814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59" name="Google Shape;359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05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1"/>
          <p:cNvSpPr txBox="1"/>
          <p:nvPr/>
        </p:nvSpPr>
        <p:spPr>
          <a:xfrm>
            <a:off x="1666875" y="41124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https://learn.g2.com/hs-fs/hubfs/iStock-1191609321%20(1).jpg?width=600&amp;name=iStock-1191609321%20(1).jpg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1666875" y="43457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learn.g2.com</a:t>
            </a:r>
            <a:endParaRPr/>
          </a:p>
        </p:txBody>
      </p:sp>
      <p:pic>
        <p:nvPicPr>
          <p:cNvPr descr="image.png" id="362" name="Google Shape;362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76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1666875" y="48839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https://proedu.com/cdn/shop/articles/what-is-dramatic-lighting-Photoshop-Skills-Thumbnail.jpg?crop=center&amp;height=1200&amp;v=1719354001&amp;width=1200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1666875" y="51173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proedu.com</a:t>
            </a:r>
            <a:endParaRPr/>
          </a:p>
        </p:txBody>
      </p:sp>
      <p:pic>
        <p:nvPicPr>
          <p:cNvPr descr="image.png" id="365" name="Google Shape;365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34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1"/>
          <p:cNvSpPr txBox="1"/>
          <p:nvPr/>
        </p:nvSpPr>
        <p:spPr>
          <a:xfrm>
            <a:off x="1666875" y="56483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https://static.vecteezy.com/system/resources/previews/077/449/514/non_2x/distressed-old-film-overlay-texture-heavy-scratches-and-dust-particles-on-black-background-analog-noise-effect-vector.jpg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1666875" y="60674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368" name="Google Shape;368;p31"/>
          <p:cNvSpPr txBox="1"/>
          <p:nvPr/>
        </p:nvSpPr>
        <p:spPr>
          <a:xfrm>
            <a:off x="809625" y="4191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571500" y="4191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2"/>
          <p:cNvSpPr/>
          <p:nvPr/>
        </p:nvSpPr>
        <p:spPr>
          <a:xfrm>
            <a:off x="571500" y="31051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8" name="Google Shape;37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8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 txBox="1"/>
          <p:nvPr/>
        </p:nvSpPr>
        <p:spPr>
          <a:xfrm>
            <a:off x="1666875" y="32551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https://png.pngtree.com/background/20250523/original/pngtree-dark-forest-with-moonlight-horror-scary-fantasy-picture-image_16548578.jpg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1666875" y="34885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381" name="Google Shape;38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9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1666875" y="40266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https://www.tipsquirrel.com/wp-content/uploads/2012/06/Credit_Block_Basic.jpg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1666875" y="42600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www.tipsquirrel.com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809625" y="571500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85" name="Google Shape;385;p3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