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Lato"/>
      <p:regular r:id="rId26"/>
      <p:bold r:id="rId27"/>
      <p:italic r:id="rId28"/>
      <p:boldItalic r:id="rId29"/>
    </p:embeddedFont>
    <p:embeddedFont>
      <p:font typeface="Poppi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48D098-10DE-41C4-81D1-7FE5B18CA25F}">
  <a:tblStyle styleId="{9648D098-10DE-41C4-81D1-7FE5B18CA2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slide" Target="slides/slide19.xml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5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9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9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Relationship Id="rId7" Type="http://schemas.openxmlformats.org/officeDocument/2006/relationships/image" Target="../media/image34.png"/><Relationship Id="rId8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40112" y="2138362"/>
            <a:ext cx="6111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2FF"/>
                </a:solidFill>
                <a:latin typeface="Lato"/>
                <a:ea typeface="Lato"/>
                <a:cs typeface="Lato"/>
                <a:sym typeface="Lato"/>
              </a:rPr>
              <a:t>КУРС ГРАФИЧЕСКОГО ДИЗАЙНА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87317" y="2547937"/>
            <a:ext cx="6417364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GIMP 3.0: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БРЕНДИНГ НАПИТКА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40112" y="4357687"/>
            <a:ext cx="6111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Промышленный дизайн и 3D-визуализация с нуля до релиза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310401" y="2376487"/>
            <a:ext cx="9571196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GIMP 3.0: </a:t>
            </a:r>
            <a:r>
              <a:rPr b="1" i="0" lang="en-US" sz="4800" u="none" cap="none" strike="noStrik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The Game Changer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662362"/>
            <a:ext cx="7620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Главное обновление десятилетия: неразрушающее редактирование, поддержка CMYK и улучшенный движок GEGL.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571500" y="3914775"/>
            <a:ext cx="110490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1470570" y="38385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3735585" y="38385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6000601" y="38385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8265616" y="38385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0530631" y="38385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21780" y="4219575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Сетка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4476750"/>
            <a:ext cx="19887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Настройка холста и DPI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2786795" y="4219575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Дизайн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2836515" y="4476750"/>
            <a:ext cx="19887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Фон и логотип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051810" y="4219575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Типографика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101530" y="4476750"/>
            <a:ext cx="19887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Стили текста GEGL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316825" y="4219575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3D Wrap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366545" y="4476750"/>
            <a:ext cx="19887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Cage Transform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81841" y="4219575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Пост-продакшн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631560" y="4476750"/>
            <a:ext cx="19887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Свет и экспорт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Дорожная карта проекта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5125"/>
            <a:ext cx="528637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05125"/>
            <a:ext cx="5286375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66775" y="3200400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Технические параметры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66775" y="3476625"/>
            <a:ext cx="46958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Для качественной печати этикетки создаем документ в 300 DPI. В GIMP 3 улучшена работа с метаданными при создании нового файла.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4276725"/>
            <a:ext cx="46958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Формат: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210 x 120 мм (стандарт для банки 0.5л).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629400" y="3200400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Цветовое пространство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629400" y="3476625"/>
            <a:ext cx="46958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Используем 32-bit Floating Point для максимальной глубины цвета. В GIMP 3 доступен расширенный динамический диапазон для ярких неоновых эффектов.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Шаг 1: Подготовка холста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978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2109787"/>
            <a:ext cx="52863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Создаем абстрактный паттерн, используя новый инструмент градиентов.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19312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66750" y="2681287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62000" y="2700337"/>
            <a:ext cx="50958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Инструмент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Gradient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(G): настраиваем переходы между Cyan и Magenta прямо на холсте.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6750" y="3214687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3233737"/>
            <a:ext cx="5095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Фильтр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Noise -&gt; Hurl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добавляем текстуру.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6750" y="3529012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3548062"/>
            <a:ext cx="5095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Distorts -&gt; Newsprint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создаем эффект футуристичной сетки.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Шаг 2: Киберпанк фон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2250"/>
            <a:ext cx="349240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762250"/>
            <a:ext cx="3492549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762250"/>
            <a:ext cx="349240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66775" y="3705225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Векторные пути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66775" y="3981450"/>
            <a:ext cx="29018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Используем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Paths Tool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(B) для создания острого, агрессивного логотипа бренда.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644925" y="370522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Слои-группы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644925" y="3981450"/>
            <a:ext cx="29019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 GIMP 3 теперь можно выбирать несколько слоев сразу. Группируем элементы лого для удобства.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423225" y="3705225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Эффекты GEGL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423225" y="3981450"/>
            <a:ext cx="29018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Добавляем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Drop Shadow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Bloom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через стек фильтров GEGL.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956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30956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30956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Шаг 3: Логотип и символы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952500" y="3067050"/>
            <a:ext cx="8191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Текстовый инструмент: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В GIMP 3.0 текст поддерживает неразрушающие обводки и стили.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52500" y="3476625"/>
            <a:ext cx="8191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Деформация: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Используем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Warp Transform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, чтобы придать названию энергию и скорость.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52500" y="3886200"/>
            <a:ext cx="8191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GEGL Styles: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Применяем неоновое свечение. Если текст изменится, фильтр пересчитается автоматически!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52500" y="4514850"/>
            <a:ext cx="8191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Читаемость: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Добавляем контрастную подложку под мелкий шрифт состава напитка.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051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1472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4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529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Шаг 4: Динамичная типографика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6334125" y="309086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Иконка "fx"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334125" y="3367087"/>
            <a:ext cx="52863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 GIMP 3 рядом со слоем появилась иконка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fx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Нажав на неё, вы увидите список примененных фильтров.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34125" y="3948112"/>
            <a:ext cx="528637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Вы можете в любой момент изменить радиус размытия или цвет тени, не отменяя все предыдущие действия. Это экономит часы работы!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9212" y="2024062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Неразрушающий стек FX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978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71500" y="2109787"/>
            <a:ext cx="52863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Берем чистое фото алюминиевой банки для создания фотореалистичного мокапа.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19312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666750" y="2681287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762000" y="2700337"/>
            <a:ext cx="5095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Инструмент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Foreground Select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отделяем объект от фона.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66750" y="2995612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762000" y="3014662"/>
            <a:ext cx="5095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Layer Masks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создаем маску, чтобы сохранить четкие края.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66750" y="3309937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62000" y="3328987"/>
            <a:ext cx="5095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Alpha to Selection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быстро создаем контур для будущей этикетки.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Шаг 5: Изоляция банки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71500" y="3062287"/>
            <a:ext cx="16573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00F2FF"/>
                </a:solidFill>
                <a:latin typeface="Lato"/>
                <a:ea typeface="Lato"/>
                <a:cs typeface="Lato"/>
                <a:sym typeface="Lato"/>
              </a:rPr>
              <a:t>32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2800350" y="3309937"/>
            <a:ext cx="926115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Bit Precision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2800350" y="3586162"/>
            <a:ext cx="88201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Работа в 32-битах позволяет избежать "ступенек" (бандинга) на градиентах. В GIMP 3 это стандарт для профессионального рендеринга.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2800350" y="4167187"/>
            <a:ext cx="8820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Это критично при создании металлических бликов на банке.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Глубина цвета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762000" y="571500"/>
            <a:ext cx="500062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Шаг 6: Cage Transform</a:t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571500" y="571500"/>
            <a:ext cx="57150" cy="12001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571500" y="3419475"/>
            <a:ext cx="495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Теперь накладываем нашу плоскую этикетку на банку. Используем инструмент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Cage Transform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(Shift+G).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4000500"/>
            <a:ext cx="4953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1. Ставим точки по контуру банки.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2. Деформируем этикетку так, чтобы она повторяла цилиндрическую форму.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3. В GIMP 3 этот инструмент работает плавнее и точнее.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2712"/>
            <a:ext cx="349240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52712"/>
            <a:ext cx="3492549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652712"/>
            <a:ext cx="34924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866775" y="3595687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Blending Modes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866775" y="3871912"/>
            <a:ext cx="29018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Ставим слой этикетки в режим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Multiply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или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Overlay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Это позволит теням и бликам алюминия проступить сквозь дизайн.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4644925" y="359568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Displace Map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4644925" y="3871912"/>
            <a:ext cx="29019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Фильтр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Map -&gt; Displace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искривит мелкие буквы этикетки по текстуре капель воды на банке.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8423225" y="3595687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Highlights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8423225" y="3871912"/>
            <a:ext cx="29018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Создаем новый слой в режиме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Addition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и рисуем яркие белые полосы — "контровой свет" от неоновых ламп.</a:t>
            </a:r>
            <a:endParaRPr/>
          </a:p>
        </p:txBody>
      </p:sp>
      <p:pic>
        <p:nvPicPr>
          <p:cNvPr descr="image.png" id="245" name="Google Shape;24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8608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29860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29860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Шаг 7: Реализм этикетки</a:t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86100"/>
            <a:ext cx="5286375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086100"/>
            <a:ext cx="528637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866775" y="3381375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Инструмент Curves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866775" y="3657600"/>
            <a:ext cx="46958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 GIMP 3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Curves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теперь тоже неразрушающие. Мы выгибаем кривую в форме "S", чтобы добавить банке "хромированный" блеск и глубокие тени.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6629400" y="3381375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Layer FX: Satin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6629400" y="3657600"/>
            <a:ext cx="46958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Применяем фильтр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Satin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из набора GEGL, чтобы создать эффект анодированного алюминия на крышке банки.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Шаг 8: Металлический лоск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2095500" y="2386012"/>
            <a:ext cx="8001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Финальная сцена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2286000" y="3433762"/>
            <a:ext cx="762000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Помещаем нашу банку в окружение ночного киберпанк-города. Добавляем размытие </a:t>
            </a:r>
            <a:r>
              <a:rPr b="1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Lens Blur</a:t>
            </a: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на фон, чтобы создать глубину резкости (Depth of Field).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 txBox="1"/>
          <p:nvPr/>
        </p:nvSpPr>
        <p:spPr>
          <a:xfrm>
            <a:off x="762000" y="571500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Пост-обработка</a:t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7" name="Google Shape;27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571500" y="3228975"/>
            <a:ext cx="495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Последний штрих —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Color Grading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В GIMP 3.0 появилась поддержка таблиц поиска цвета (LUT).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571500" y="3810000"/>
            <a:ext cx="49530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Применяем киберпанк-LUT, чтобы "сшить" банку и фон в единую цветовую гамму. Добавляем финальное свечение через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GEGL Bloom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5" name="Google Shape;285;p28"/>
          <p:cNvGraphicFramePr/>
          <p:nvPr/>
        </p:nvGraphicFramePr>
        <p:xfrm>
          <a:off x="571500" y="2505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{9648D098-10DE-41C4-81D1-7FE5B18CA25F}</a:tableStyleId>
              </a:tblPr>
              <a:tblGrid>
                <a:gridCol w="1755875"/>
                <a:gridCol w="2755100"/>
                <a:gridCol w="6538025"/>
              </a:tblGrid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2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Формат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2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Назначение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2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Особенности GIMP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.XCF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Рабочий файл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Сохраняет весь стек неразрушающих фильтров (fx).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.PSD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Обмен с коллегами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Улучшенная совместимость со слоями Photoshop.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.TIFF / .JPG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Печать (CMYK)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Поддержка </a:t>
                      </a: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late-binding CMYK</a:t>
                      </a: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при экспорте.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.PNG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Веб-портфолио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Поддержка профилей Wide Gamut.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6" name="Google Shape;286;p28"/>
          <p:cNvSpPr/>
          <p:nvPr/>
        </p:nvSpPr>
        <p:spPr>
          <a:xfrm>
            <a:off x="571500" y="3033712"/>
            <a:ext cx="17558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2327374" y="3033712"/>
            <a:ext cx="2755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5082480" y="3033712"/>
            <a:ext cx="65380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571500" y="3605212"/>
            <a:ext cx="17558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2327374" y="3605212"/>
            <a:ext cx="2755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5082480" y="3605212"/>
            <a:ext cx="65380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571500" y="4176712"/>
            <a:ext cx="17558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2327374" y="4176712"/>
            <a:ext cx="2755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5082480" y="4176712"/>
            <a:ext cx="65380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571500" y="4748212"/>
            <a:ext cx="17558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2327374" y="4748212"/>
            <a:ext cx="2755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5082480" y="4748212"/>
            <a:ext cx="65380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571500" y="5319712"/>
            <a:ext cx="17558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2327374" y="5319712"/>
            <a:ext cx="2755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5082480" y="5319712"/>
            <a:ext cx="65380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Экспорт и форматы</a:t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 txBox="1"/>
          <p:nvPr/>
        </p:nvSpPr>
        <p:spPr>
          <a:xfrm>
            <a:off x="952500" y="3176587"/>
            <a:ext cx="8191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Стек фильтров: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Всегда проверяйте параметры через иконку "fx" перед финальным рендером.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952500" y="3586162"/>
            <a:ext cx="8191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OpenCL: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Включите аппаратное ускорение в настройках GIMP 3 для быстрой работы GEGL.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952500" y="3995737"/>
            <a:ext cx="8191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Версионность: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Сохраняйте промежуточные этапы дизайна этикетки как отдельные слои-группы.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952500" y="4405312"/>
            <a:ext cx="8191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Практика: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GIMP 3 — это мощный инструмент, требующий привыкания к новой логике неразрушаемости.</a:t>
            </a:r>
            <a:endParaRPr/>
          </a:p>
        </p:txBody>
      </p:sp>
      <p:pic>
        <p:nvPicPr>
          <p:cNvPr descr="image.png" id="312" name="Google Shape;3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146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42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338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4341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Итоги и советы</a:t>
            </a:r>
            <a:endParaRPr/>
          </a:p>
        </p:txBody>
      </p:sp>
      <p:sp>
        <p:nvSpPr>
          <p:cNvPr id="317" name="Google Shape;317;p2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390509" y="2871787"/>
            <a:ext cx="54108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Вопросы?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3519338" y="3205162"/>
            <a:ext cx="515317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Ваша обложка энергетического напитка готова к выходу на рынок!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3519338" y="3805237"/>
            <a:ext cx="515317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2FF"/>
                </a:solidFill>
                <a:latin typeface="Lato"/>
                <a:ea typeface="Lato"/>
                <a:cs typeface="Lato"/>
                <a:sym typeface="Lato"/>
              </a:rPr>
              <a:t>www.gimp-master.ru | @gimp3_design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/>
          <p:nvPr/>
        </p:nvSpPr>
        <p:spPr>
          <a:xfrm>
            <a:off x="571500" y="1938337"/>
            <a:ext cx="11049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571500" y="27670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571500" y="35385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571500" y="43100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571500" y="2757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571500" y="2757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571500" y="3529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571500" y="3529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571500" y="4300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71500" y="4300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571500" y="5072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571500" y="5072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3" name="Google Shape;34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/>
        </p:nvSpPr>
        <p:spPr>
          <a:xfrm>
            <a:off x="1666875" y="2081212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https://static.vecteezy.com/system/resources/previews/031/741/741/large_2x/a-cyberpunk-style-energy-drink-label-with-a-surge-of-power-and-a-hightech-design-ai-generated-photo.jpg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1666875" y="2433637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346" name="Google Shape;34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09887"/>
            <a:ext cx="24860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1"/>
          <p:cNvSpPr txBox="1"/>
          <p:nvPr/>
        </p:nvSpPr>
        <p:spPr>
          <a:xfrm>
            <a:off x="1666875" y="2957512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https://i.sstatic.net/yrbX7pN0.png</a:t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1666875" y="3157537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graphicdesign.stackexchange.com</a:t>
            </a:r>
            <a:endParaRPr/>
          </a:p>
        </p:txBody>
      </p:sp>
      <p:pic>
        <p:nvPicPr>
          <p:cNvPr descr="image.png" id="349" name="Google Shape;34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81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1"/>
          <p:cNvSpPr txBox="1"/>
          <p:nvPr/>
        </p:nvSpPr>
        <p:spPr>
          <a:xfrm>
            <a:off x="1666875" y="3729037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https://png.pngtree.com/png-vector/20250130/ourlarge/pngtree-black-blank-soda-can-transparent-background-png-image_15375174.png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1666875" y="3929062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352" name="Google Shape;352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52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1"/>
          <p:cNvSpPr txBox="1"/>
          <p:nvPr/>
        </p:nvSpPr>
        <p:spPr>
          <a:xfrm>
            <a:off x="1666875" y="4500562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https://media.easy-peasy.ai/acf5c4ef-4151-41d0-b21a-770c6bd0e690/d6e21f53-7732-4fe7-b921-58121c1baf3f_medium.webp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1666875" y="4700587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easy-peasy.ai</a:t>
            </a:r>
            <a:endParaRPr/>
          </a:p>
        </p:txBody>
      </p:sp>
      <p:pic>
        <p:nvPicPr>
          <p:cNvPr descr="image.png" id="355" name="Google Shape;355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530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 txBox="1"/>
          <p:nvPr/>
        </p:nvSpPr>
        <p:spPr>
          <a:xfrm>
            <a:off x="1666875" y="5224462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https://elements-resized.envatousercontent.com/elements-video-cover-images/2987231d-7113-4f24-84d4-9610dceffc8d/video_preview/video_preview_0000.jpg?w=500&amp;cf_fit=cover&amp;q=85&amp;format=auto&amp;s=3215dade6dcab5d67a8dc7eb6b00fb846edfcc37ae8d903a24eb24ed15d1fa29</a:t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1666875" y="5576887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elements.envato.com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